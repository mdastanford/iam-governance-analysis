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 autoAdjust="0"/>
    <p:restoredTop sz="94627" autoAdjust="0"/>
  </p:normalViewPr>
  <p:slideViewPr>
    <p:cSldViewPr snapToGrid="0" snapToObjects="1" showGuides="1">
      <p:cViewPr varScale="1">
        <p:scale>
          <a:sx n="111" d="100"/>
          <a:sy n="111" d="100"/>
        </p:scale>
        <p:origin x="-1504" y="-104"/>
      </p:cViewPr>
      <p:guideLst>
        <p:guide orient="horz" pos="1709"/>
        <p:guide pos="11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F30D-A109-1842-8353-C567A4D0CBB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1D37-1C23-B947-9EB9-B568B377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29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F30D-A109-1842-8353-C567A4D0CBB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1D37-1C23-B947-9EB9-B568B377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F30D-A109-1842-8353-C567A4D0CBB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1D37-1C23-B947-9EB9-B568B377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855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F30D-A109-1842-8353-C567A4D0CBB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1D37-1C23-B947-9EB9-B568B377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24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F30D-A109-1842-8353-C567A4D0CBB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1D37-1C23-B947-9EB9-B568B377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2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F30D-A109-1842-8353-C567A4D0CBB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1D37-1C23-B947-9EB9-B568B377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55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F30D-A109-1842-8353-C567A4D0CBB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1D37-1C23-B947-9EB9-B568B377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183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F30D-A109-1842-8353-C567A4D0CBB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1D37-1C23-B947-9EB9-B568B377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58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F30D-A109-1842-8353-C567A4D0CBB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1D37-1C23-B947-9EB9-B568B377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76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F30D-A109-1842-8353-C567A4D0CBB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1D37-1C23-B947-9EB9-B568B377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38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F30D-A109-1842-8353-C567A4D0CBB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1D37-1C23-B947-9EB9-B568B377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58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4F30D-A109-1842-8353-C567A4D0CBB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F1D37-1C23-B947-9EB9-B568B377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76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IAM + GRC CASE STUDY</a:t>
            </a:r>
            <a:br>
              <a:rPr lang="en-US" dirty="0" smtClean="0"/>
            </a:br>
            <a:r>
              <a:rPr lang="en-US" sz="3100" dirty="0" smtClean="0"/>
              <a:t>physical access identity sprawl audit and analysis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256953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93026" y="32483"/>
            <a:ext cx="7772400" cy="591229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ENVIRONMENT OVERVIEW &amp; METHODOLOGY</a:t>
            </a:r>
            <a:endParaRPr lang="en-US" sz="1800" b="1" dirty="0"/>
          </a:p>
        </p:txBody>
      </p:sp>
      <p:sp>
        <p:nvSpPr>
          <p:cNvPr id="4" name="Rectangle 3"/>
          <p:cNvSpPr/>
          <p:nvPr/>
        </p:nvSpPr>
        <p:spPr>
          <a:xfrm>
            <a:off x="390969" y="658762"/>
            <a:ext cx="5380537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ENVIRONMENT</a:t>
            </a:r>
          </a:p>
          <a:p>
            <a:endParaRPr lang="en-US" dirty="0"/>
          </a:p>
          <a:p>
            <a:r>
              <a:rPr lang="en-US" dirty="0" smtClean="0"/>
              <a:t>	multi-tenant commercial real estate</a:t>
            </a:r>
          </a:p>
          <a:p>
            <a:r>
              <a:rPr lang="en-US" dirty="0"/>
              <a:t>	</a:t>
            </a:r>
            <a:r>
              <a:rPr lang="en-US" dirty="0" smtClean="0"/>
              <a:t>physical access control platform: AMAG Symmetry </a:t>
            </a:r>
          </a:p>
          <a:p>
            <a:r>
              <a:rPr lang="en-US" dirty="0" smtClean="0"/>
              <a:t>         1,000+ active  credentials analyzed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93026" y="2497997"/>
            <a:ext cx="6117982" cy="175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METHODOLOGY</a:t>
            </a:r>
          </a:p>
          <a:p>
            <a:endParaRPr lang="en-US" dirty="0" smtClean="0"/>
          </a:p>
          <a:p>
            <a:r>
              <a:rPr lang="en-US" dirty="0" smtClean="0"/>
              <a:t>	controlled access (active within 60 days)</a:t>
            </a:r>
          </a:p>
          <a:p>
            <a:r>
              <a:rPr lang="en-US" dirty="0"/>
              <a:t>	</a:t>
            </a:r>
            <a:r>
              <a:rPr lang="en-US" dirty="0" smtClean="0"/>
              <a:t>unused active credentials (issued / never used)</a:t>
            </a:r>
          </a:p>
          <a:p>
            <a:r>
              <a:rPr lang="en-US" dirty="0"/>
              <a:t>	</a:t>
            </a:r>
            <a:r>
              <a:rPr lang="en-US" dirty="0" smtClean="0"/>
              <a:t>dormant accounts (60+ days without activity)</a:t>
            </a:r>
          </a:p>
          <a:p>
            <a:r>
              <a:rPr lang="en-US" dirty="0" smtClean="0"/>
              <a:t>	shared credentials (vendors contractors/visitors)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90969" y="4686936"/>
            <a:ext cx="85715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Evaluation based on badge activity, credential ownership and lifecycle status</a:t>
            </a:r>
          </a:p>
          <a:p>
            <a:endParaRPr lang="en-US" dirty="0" smtClean="0"/>
          </a:p>
          <a:p>
            <a:r>
              <a:rPr lang="en-US" dirty="0" smtClean="0"/>
              <a:t>This case study demonstrates identity governance analysis techniques. All data and environments have been </a:t>
            </a:r>
            <a:r>
              <a:rPr lang="en-US" dirty="0" err="1" smtClean="0"/>
              <a:t>anonymized</a:t>
            </a:r>
            <a:r>
              <a:rPr lang="en-US" dirty="0" smtClean="0"/>
              <a:t> and recreated for demonstration purposes only.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46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35e8509-75bc-4bd5-be3a-d7daf194f1f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591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63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creen Shot 2026-03-14 at 1.32.2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593"/>
            <a:ext cx="9144000" cy="3327332"/>
          </a:xfrm>
          <a:prstGeom prst="rect">
            <a:avLst/>
          </a:prstGeom>
        </p:spPr>
      </p:pic>
      <p:pic>
        <p:nvPicPr>
          <p:cNvPr id="5" name="Picture 4" descr="A pie chart with text and numbers&#10;&#10;AI-generated content may be incorrect.">
            <a:extLst>
              <a:ext uri="{FF2B5EF4-FFF2-40B4-BE49-F238E27FC236}">
                <a16:creationId xmlns:lc="http://schemas.openxmlformats.org/drawingml/2006/lockedCanvas" xmlns="" xmlns:a16="http://schemas.microsoft.com/office/drawing/2014/main" id="{0A7E3D1C-A0BE-D5A1-9155-7276751BA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364" y="3600450"/>
            <a:ext cx="4369003" cy="30252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4134286"/>
            <a:ext cx="22873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SHARED CREDENTIALS 13%</a:t>
            </a:r>
          </a:p>
          <a:p>
            <a:r>
              <a:rPr lang="en-US" sz="1400" dirty="0" smtClean="0"/>
              <a:t>SPRAWL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RISK LEVEL: HIGH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5571352"/>
            <a:ext cx="22873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DORMANT ACCOUNTS: 10%</a:t>
            </a:r>
          </a:p>
          <a:p>
            <a:r>
              <a:rPr lang="en-US" sz="1400" dirty="0" smtClean="0"/>
              <a:t>SPRAWL</a:t>
            </a:r>
          </a:p>
          <a:p>
            <a:r>
              <a:rPr lang="en-US" sz="1400" dirty="0" smtClean="0"/>
              <a:t>RISK LEVEL: MEDIUM</a:t>
            </a: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6740729" y="4134286"/>
            <a:ext cx="22873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COMPLIANT CREDENTIALS </a:t>
            </a:r>
            <a:r>
              <a:rPr lang="en-US" sz="1400" dirty="0"/>
              <a:t>3</a:t>
            </a:r>
            <a:r>
              <a:rPr lang="en-US" sz="1400" dirty="0" smtClean="0"/>
              <a:t>3%</a:t>
            </a:r>
          </a:p>
          <a:p>
            <a:r>
              <a:rPr lang="en-US" sz="1400" dirty="0" smtClean="0"/>
              <a:t>RISK LEVEL: LOW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6740729" y="5380243"/>
            <a:ext cx="22873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UNUSED ACTIVE  REDENTIALS: 43%</a:t>
            </a:r>
          </a:p>
          <a:p>
            <a:r>
              <a:rPr lang="en-US" sz="1400" dirty="0" smtClean="0"/>
              <a:t>SPRAWL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RISK LEVEL: HIGH</a:t>
            </a:r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46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bb52fc2-a980-473d-a566-08e09e080d6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323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597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7637"/>
            <a:ext cx="8229600" cy="4525963"/>
          </a:xfrm>
        </p:spPr>
        <p:txBody>
          <a:bodyPr>
            <a:normAutofit fontScale="47500" lnSpcReduction="20000"/>
          </a:bodyPr>
          <a:lstStyle/>
          <a:p>
            <a:r>
              <a:rPr lang="en-US" sz="6000" dirty="0">
                <a:latin typeface="Calibri (Body)"/>
                <a:cs typeface="Calibri (Body)"/>
              </a:rPr>
              <a:t>REMEDIATION </a:t>
            </a:r>
            <a:r>
              <a:rPr lang="en-US" sz="6000" dirty="0" smtClean="0">
                <a:latin typeface="Calibri (Body)"/>
                <a:cs typeface="Calibri (Body)"/>
              </a:rPr>
              <a:t>STRATEGY:</a:t>
            </a:r>
            <a:r>
              <a:rPr lang="en-US" sz="6000" dirty="0">
                <a:latin typeface="Calibri (Body)"/>
                <a:cs typeface="Calibri (Body)"/>
              </a:rPr>
              <a:t> </a:t>
            </a:r>
          </a:p>
          <a:p>
            <a:endParaRPr lang="en-US" dirty="0">
              <a:latin typeface="Calibri (Body)"/>
              <a:cs typeface="Calibri (Body)"/>
            </a:endParaRPr>
          </a:p>
          <a:p>
            <a:endParaRPr lang="en-US" dirty="0">
              <a:latin typeface="Calibri (Body)"/>
              <a:cs typeface="Calibri (Body)"/>
            </a:endParaRPr>
          </a:p>
          <a:p>
            <a:r>
              <a:rPr lang="en-US" dirty="0">
                <a:latin typeface="Calibri (Body)"/>
                <a:cs typeface="Calibri (Body)"/>
              </a:rPr>
              <a:t>1 – establish audit &amp; reporting processes</a:t>
            </a:r>
          </a:p>
          <a:p>
            <a:endParaRPr lang="en-US" dirty="0">
              <a:latin typeface="Calibri (Body)"/>
              <a:cs typeface="Calibri (Body)"/>
            </a:endParaRPr>
          </a:p>
          <a:p>
            <a:endParaRPr lang="en-US" dirty="0">
              <a:latin typeface="Calibri (Body)"/>
              <a:cs typeface="Calibri (Body)"/>
            </a:endParaRPr>
          </a:p>
          <a:p>
            <a:r>
              <a:rPr lang="en-US" dirty="0">
                <a:latin typeface="Calibri (Body)"/>
                <a:cs typeface="Calibri (Body)"/>
              </a:rPr>
              <a:t>2 – standardize credential lifecycle management based on existing framework </a:t>
            </a:r>
          </a:p>
          <a:p>
            <a:endParaRPr lang="en-US" dirty="0">
              <a:latin typeface="Calibri (Body)"/>
              <a:cs typeface="Calibri (Body)"/>
            </a:endParaRPr>
          </a:p>
          <a:p>
            <a:r>
              <a:rPr lang="en-US" b="1" dirty="0">
                <a:latin typeface="Calibri (Body)"/>
                <a:cs typeface="Calibri (Body)"/>
              </a:rPr>
              <a:t>(ISO 27001 &amp; 27002,</a:t>
            </a:r>
            <a:r>
              <a:rPr lang="en-US" b="1" dirty="0">
                <a:latin typeface="Calibri (Body)"/>
                <a:ea typeface="+mn-lt"/>
                <a:cs typeface="Calibri (Body)"/>
              </a:rPr>
              <a:t> NIST SP 800-53</a:t>
            </a:r>
            <a:r>
              <a:rPr lang="en-US" b="1" dirty="0">
                <a:latin typeface="Calibri (Body)"/>
                <a:cs typeface="Calibri (Body)"/>
              </a:rPr>
              <a:t>)</a:t>
            </a:r>
          </a:p>
          <a:p>
            <a:endParaRPr lang="en-US" dirty="0">
              <a:latin typeface="Calibri (Body)"/>
              <a:cs typeface="Calibri (Body)"/>
            </a:endParaRPr>
          </a:p>
          <a:p>
            <a:endParaRPr lang="en-US" dirty="0">
              <a:latin typeface="Calibri (Body)"/>
              <a:cs typeface="Calibri (Body)"/>
            </a:endParaRPr>
          </a:p>
          <a:p>
            <a:r>
              <a:rPr lang="en-US" dirty="0">
                <a:latin typeface="Calibri (Body)"/>
                <a:cs typeface="Calibri (Body)"/>
              </a:rPr>
              <a:t>3 – conduct portfolio IAM assessment</a:t>
            </a:r>
          </a:p>
          <a:p>
            <a:endParaRPr lang="en-US" dirty="0">
              <a:latin typeface="Calibri (Body)"/>
              <a:cs typeface="Calibri (Body)"/>
            </a:endParaRPr>
          </a:p>
          <a:p>
            <a:r>
              <a:rPr lang="en-US" b="1" dirty="0">
                <a:latin typeface="Calibri (Body)"/>
                <a:cs typeface="Calibri (Body)"/>
              </a:rPr>
              <a:t>PROPERTY</a:t>
            </a:r>
            <a:r>
              <a:rPr lang="en-US" b="1" dirty="0">
                <a:latin typeface="Calibri (Body)"/>
                <a:ea typeface="+mn-lt"/>
                <a:cs typeface="Calibri (Body)"/>
              </a:rPr>
              <a:t> 01</a:t>
            </a:r>
            <a:r>
              <a:rPr lang="en-US" dirty="0">
                <a:latin typeface="Calibri (Body)"/>
                <a:ea typeface="+mn-lt"/>
                <a:cs typeface="Calibri (Body)"/>
              </a:rPr>
              <a:t> serves as a representative example of how identity sprawl develops without centralized identity governance.</a:t>
            </a:r>
            <a:r>
              <a:rPr lang="en-US" dirty="0">
                <a:latin typeface="Calibri (Body)"/>
                <a:cs typeface="Calibri (Body)"/>
              </a:rPr>
              <a:t>  </a:t>
            </a:r>
          </a:p>
          <a:p>
            <a:endParaRPr lang="en-US" dirty="0">
              <a:latin typeface="Calibri (Body)"/>
              <a:cs typeface="Calibri (Body)"/>
            </a:endParaRPr>
          </a:p>
          <a:p>
            <a:r>
              <a:rPr lang="en-US" dirty="0">
                <a:latin typeface="Calibri (Body)"/>
                <a:cs typeface="Calibri (Body)"/>
              </a:rPr>
              <a:t>This case </a:t>
            </a:r>
            <a:r>
              <a:rPr lang="en-US" dirty="0" smtClean="0">
                <a:latin typeface="Calibri (Body)"/>
                <a:cs typeface="Calibri (Body)"/>
              </a:rPr>
              <a:t>study </a:t>
            </a:r>
            <a:r>
              <a:rPr lang="en-US" dirty="0">
                <a:latin typeface="Calibri (Body)"/>
                <a:cs typeface="Calibri (Body)"/>
              </a:rPr>
              <a:t>demonstrates identity governance analysis techniques. All data and environments have been </a:t>
            </a:r>
            <a:r>
              <a:rPr lang="en-US" dirty="0" smtClean="0">
                <a:latin typeface="Calibri (Body)"/>
                <a:cs typeface="Calibri (Body)"/>
              </a:rPr>
              <a:t>sanitized and </a:t>
            </a:r>
            <a:r>
              <a:rPr lang="en-US" dirty="0">
                <a:latin typeface="Calibri (Body)"/>
                <a:cs typeface="Calibri (Body)"/>
              </a:rPr>
              <a:t>recreated for demonstration purposes only.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083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86</Words>
  <Application>Microsoft Macintosh PowerPoint</Application>
  <PresentationFormat>On-screen Show (4:3)</PresentationFormat>
  <Paragraphs>43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IAM + GRC CASE STUDY physical access identity sprawl audit and analysis</vt:lpstr>
      <vt:lpstr>ENVIRONMENT OVERVIEW &amp; METHODOLOGY</vt:lpstr>
      <vt:lpstr>PowerPoint Presentation</vt:lpstr>
      <vt:lpstr>PowerPoint Presentation</vt:lpstr>
      <vt:lpstr>PowerPoint Presentation</vt:lpstr>
      <vt:lpstr>PowerPoint Presentation</vt:lpstr>
    </vt:vector>
  </TitlesOfParts>
  <Company>Vandelay World Wide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STANFORD</dc:creator>
  <cp:lastModifiedBy>MICHAEL STANFORD</cp:lastModifiedBy>
  <cp:revision>7</cp:revision>
  <dcterms:created xsi:type="dcterms:W3CDTF">2026-03-14T22:07:23Z</dcterms:created>
  <dcterms:modified xsi:type="dcterms:W3CDTF">2026-03-14T22:53:52Z</dcterms:modified>
</cp:coreProperties>
</file>